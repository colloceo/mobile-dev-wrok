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C98A"/>
                </a:solidFill>
                <a:latin typeface="Consolas"/>
              </a:rPr>
              <a:t>IBL23305 — Mobile Application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Calibri"/>
              </a:rPr>
              <a:t>Bill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9601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A9C2B7"/>
                </a:solidFill>
                <a:latin typeface="Calibri"/>
              </a:rPr>
              <a:t>A lightweight Android companion that keeps recurring bills and the fees that come with missing them  off your mind.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F3EE"/>
                </a:solidFill>
                <a:latin typeface="Calibri"/>
              </a:rPr>
              <a:t>Collins Otieno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7B6C"/>
                </a:solidFill>
                <a:latin typeface="Calibri"/>
              </a:rPr>
              <a:t>Capstone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8F5E"/>
                </a:solidFill>
                <a:latin typeface="Consola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31C"/>
                </a:solidFill>
                <a:latin typeface="Calibri"/>
              </a:rPr>
              <a:t>Bills don't miss dates. People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5B6660"/>
                </a:solidFill>
                <a:latin typeface="Calibri"/>
              </a:rPr>
              <a:t>Late fees rarely come from a lack of money  they come from a due date nobody was watching. Existing tools solve adjacent problems, not this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4231C"/>
                </a:solidFill>
                <a:latin typeface="Calibri"/>
              </a:rPr>
              <a:t>M-Pesa / Airtel Money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6660"/>
                </a:solidFill>
                <a:latin typeface="Calibri"/>
              </a:rPr>
              <a:t>Move money instantly, but never ask what's due, or when.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33172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60604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4231C"/>
                </a:solidFill>
                <a:latin typeface="Calibri"/>
              </a:rPr>
              <a:t>Expense trackers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00400"/>
            <a:ext cx="2880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5B6660"/>
                </a:solidFill>
                <a:latin typeface="Calibri"/>
              </a:rPr>
              <a:t>Explain spending after it happens  no forward-looking due date at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33172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0E8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260604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Bill Reminder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F5EE"/>
                </a:solidFill>
                <a:latin typeface="Calibri"/>
              </a:rPr>
              <a:t>One local list, sorted by urgency, resolved in one tap or one shake.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660"/>
                </a:solidFill>
                <a:latin typeface="Calibri"/>
              </a:rPr>
              <a:t>Positioning: not a payment app, not a spend tracker — a due-date-first companion.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8F5E"/>
                </a:solidFill>
                <a:latin typeface="Consolas"/>
              </a:rPr>
              <a:t>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31C"/>
                </a:solidFill>
                <a:latin typeface="Calibri"/>
              </a:rPr>
              <a:t>What the app sets out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63093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dirty="0">
                <a:solidFill>
                  <a:srgbClr val="14231C"/>
                </a:solidFill>
              </a:rPr>
              <a:t>•  Track every recurring bill by due date, surface the most urgent one first</a:t>
            </a:r>
          </a:p>
          <a:p>
            <a:pPr>
              <a:spcAft>
                <a:spcPts val="1600"/>
              </a:spcAft>
            </a:pPr>
            <a:r>
              <a:rPr sz="1900" dirty="0">
                <a:solidFill>
                  <a:srgbClr val="14231C"/>
                </a:solidFill>
              </a:rPr>
              <a:t>•  Resolve a payment in one tap  or one shake  not a multi-screen flow</a:t>
            </a:r>
          </a:p>
          <a:p>
            <a:pPr>
              <a:spcAft>
                <a:spcPts val="1600"/>
              </a:spcAft>
            </a:pPr>
            <a:r>
              <a:rPr sz="1900" dirty="0">
                <a:solidFill>
                  <a:srgbClr val="14231C"/>
                </a:solidFill>
              </a:rPr>
              <a:t>•  Convert a foreign-currency bill into local currency on demand</a:t>
            </a:r>
          </a:p>
          <a:p>
            <a:pPr>
              <a:spcAft>
                <a:spcPts val="1600"/>
              </a:spcAft>
            </a:pPr>
            <a:r>
              <a:rPr sz="1900" dirty="0">
                <a:solidFill>
                  <a:srgbClr val="14231C"/>
                </a:solidFill>
              </a:rPr>
              <a:t>•  Keep every account fully local  no cloud sign-in, no third-party 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645920"/>
            <a:ext cx="4343400" cy="4206240"/>
          </a:xfrm>
          <a:prstGeom prst="roundRect">
            <a:avLst>
              <a:gd name="adj" fmla="val 6000"/>
            </a:avLst>
          </a:prstGeom>
          <a:solidFill>
            <a:srgbClr val="12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79" y="187451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C98A"/>
                </a:solidFill>
                <a:latin typeface="Calibri"/>
              </a:rPr>
              <a:t>IN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28600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AF3EE"/>
                </a:solidFill>
                <a:latin typeface="Calibri"/>
              </a:rPr>
              <a:t>Native Kotlin Android, Room-based local auth, one free public REST API, one hardware sensor, Material 3 UI.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657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8A2E"/>
                </a:solidFill>
                <a:latin typeface="Calibri"/>
              </a:rPr>
              <a:t>OUT OF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06908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AF3EE"/>
                </a:solidFill>
                <a:latin typeface="Calibri"/>
              </a:rPr>
              <a:t>Firebase / cloud auth, server push notifications, multi-device sync, payment processing.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660"/>
                </a:solidFill>
                <a:latin typeface="Calibri"/>
              </a:rPr>
              <a:t>Scope is deliberately narrow — that is the pitch, not a limitation.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8F5E"/>
                </a:solidFill>
                <a:latin typeface="Consolas"/>
              </a:rPr>
              <a:t>SYSTEM DESIGN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31C"/>
                </a:solidFill>
                <a:latin typeface="Calibri"/>
              </a:rPr>
              <a:t>A single, predictable data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03911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231C"/>
                </a:solidFill>
                <a:latin typeface="Calibri"/>
              </a:rPr>
              <a:t>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B6660"/>
                </a:solidFill>
                <a:latin typeface="Calibri"/>
              </a:rPr>
              <a:t>8 screens, Material 3 views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4681" y="2286000"/>
            <a:ext cx="228600" cy="365760"/>
          </a:xfrm>
          <a:prstGeom prst="rightArrow">
            <a:avLst/>
          </a:prstGeom>
          <a:solidFill>
            <a:srgbClr val="0E8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83280" y="178308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203911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231C"/>
                </a:solidFill>
                <a:latin typeface="Calibri"/>
              </a:rPr>
              <a:t>ViewModel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514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B6660"/>
                </a:solidFill>
                <a:latin typeface="Calibri"/>
              </a:rPr>
              <a:t>Holds UI state, survives rotation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97881" y="2286000"/>
            <a:ext cx="228600" cy="365760"/>
          </a:xfrm>
          <a:prstGeom prst="rightArrow">
            <a:avLst/>
          </a:prstGeom>
          <a:solidFill>
            <a:srgbClr val="0E8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26480" y="178308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203911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231C"/>
                </a:solidFill>
                <a:latin typeface="Calibri"/>
              </a:rPr>
              <a:t>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514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B6660"/>
                </a:solidFill>
                <a:latin typeface="Calibri"/>
              </a:rPr>
              <a:t>One source of truth per domain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41081" y="2286000"/>
            <a:ext cx="228600" cy="365760"/>
          </a:xfrm>
          <a:prstGeom prst="rightArrow">
            <a:avLst/>
          </a:prstGeom>
          <a:solidFill>
            <a:srgbClr val="0E8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869680" y="178308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0E8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0" y="203911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Room / Retrofit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514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6F5EE"/>
                </a:solidFill>
                <a:latin typeface="Calibri"/>
              </a:rPr>
              <a:t>Local DB + exchange-rate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4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F1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68503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8F5E"/>
                </a:solidFill>
                <a:latin typeface="Calibri"/>
              </a:rPr>
              <a:t>8 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50792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660"/>
                </a:solidFill>
                <a:latin typeface="Calibri"/>
              </a:rPr>
              <a:t>Splash · Login · Register · Dashboard · Add/Edit Bill · Payment History · Currency · Settings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52044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F1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368503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8F5E"/>
                </a:solidFill>
                <a:latin typeface="Calibri"/>
              </a:rPr>
              <a:t>Explicit + implicit intents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050792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660"/>
                </a:solidFill>
                <a:latin typeface="Calibri"/>
              </a:rPr>
              <a:t>Screen-to-screen navigation, plus ACTION_SEND, ACTION_DIAL, ACTION_SENDTO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660"/>
                </a:solidFill>
                <a:latin typeface="Calibri"/>
              </a:rPr>
              <a:t>Each layer only talks to its neighbor — the Activity never touches Room or Retrofit directly.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8F5E"/>
                </a:solidFill>
                <a:latin typeface="Consolas"/>
              </a:rPr>
              <a:t>TECHNOLOGIES &amp; DEVELOPMENT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231C"/>
                </a:solidFill>
                <a:latin typeface="Calibri"/>
              </a:rPr>
              <a:t>Built on a standard, provable Android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4231C"/>
                </a:solidFill>
                <a:latin typeface="Calibri"/>
              </a:rPr>
              <a:t>Kotlin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60"/>
                </a:solidFill>
                <a:latin typeface="Calibri"/>
              </a:rPr>
              <a:t>Language for the entire app, no 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73736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19202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4231C"/>
                </a:solidFill>
                <a:latin typeface="Calibri"/>
              </a:rPr>
              <a:t>Material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4231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60"/>
                </a:solidFill>
                <a:latin typeface="Calibri"/>
              </a:rPr>
              <a:t>TextInputLayout, MaterialCardView, BottomNavigationView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4231C"/>
                </a:solidFill>
                <a:latin typeface="Calibri"/>
              </a:rPr>
              <a:t>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23160"/>
            <a:ext cx="2331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B6660"/>
                </a:solidFill>
                <a:latin typeface="Calibri"/>
              </a:rPr>
              <a:t>SQLite ORM  users, bills, 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73736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64040" y="19202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4231C"/>
                </a:solidFill>
                <a:latin typeface="Calibri"/>
              </a:rPr>
              <a:t>Retrofit + Gson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4231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60"/>
                </a:solidFill>
                <a:latin typeface="Calibri"/>
              </a:rPr>
              <a:t>Exchange-rate REST client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4231C"/>
                </a:solidFill>
                <a:latin typeface="Calibri"/>
              </a:rPr>
              <a:t>ViewModel + LiveData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60"/>
                </a:solidFill>
                <a:latin typeface="Calibri"/>
              </a:rPr>
              <a:t>UI state that survives rotation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365760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03320" y="3840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4231C"/>
                </a:solidFill>
                <a:latin typeface="Calibri"/>
              </a:rPr>
              <a:t>SharedPreferences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34340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60"/>
                </a:solidFill>
                <a:latin typeface="Calibri"/>
              </a:rPr>
              <a:t>Preferred currency, session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5760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3840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4231C"/>
                </a:solidFill>
                <a:latin typeface="Calibri"/>
              </a:rPr>
              <a:t>Accelerometer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34340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60"/>
                </a:solidFill>
                <a:latin typeface="Calibri"/>
              </a:rPr>
              <a:t>Shake gesture, marks the top bill paid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65760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0E8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64040" y="3840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Gradle 9.4.1 / JDK 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434340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F5EE"/>
                </a:solidFill>
                <a:latin typeface="Calibri"/>
              </a:rPr>
              <a:t>Build toolchain, wireless-debug install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660"/>
                </a:solidFill>
                <a:latin typeface="Calibri"/>
              </a:rPr>
              <a:t>Every component here is a standard Jetpack or AndroidX library — no exotic dependencies to defend.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8F5E"/>
                </a:solidFill>
                <a:latin typeface="Consolas"/>
              </a:rP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231C"/>
                </a:solidFill>
                <a:latin typeface="Calibri"/>
              </a:rPr>
              <a:t>Seven steps, one physical 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9222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E8F5E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10512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4231C"/>
                </a:solidFill>
                <a:latin typeface="Calibri"/>
              </a:rPr>
              <a:t>Register a new local account, then log 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50008"/>
            <a:ext cx="10881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E8F5E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46888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4231C"/>
                </a:solidFill>
                <a:latin typeface="Calibri"/>
              </a:rPr>
              <a:t>Dashboard: "Next Up" card and urgency-grouped bill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08376"/>
            <a:ext cx="10881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E8F5E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127248"/>
            <a:ext cx="9692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4231C"/>
                </a:solidFill>
                <a:latin typeface="Calibri"/>
              </a:rPr>
              <a:t>Add a bill  category, recurrence, due date, biller contact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66744"/>
            <a:ext cx="10881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E8F5E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785616"/>
            <a:ext cx="9692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4231C"/>
                </a:solidFill>
                <a:latin typeface="Calibri"/>
              </a:rPr>
              <a:t>Shake the phone  the top bill is marked paid, once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25112"/>
            <a:ext cx="10881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425696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E8F5E"/>
                </a:solidFill>
                <a:latin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443984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4231C"/>
                </a:solidFill>
                <a:latin typeface="Calibri"/>
              </a:rPr>
              <a:t>Payment History shows the new payment record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983480"/>
            <a:ext cx="10881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08406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E8F5E"/>
                </a:solidFill>
                <a:latin typeface="Consola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102352"/>
            <a:ext cx="9692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4231C"/>
                </a:solidFill>
                <a:latin typeface="Calibri"/>
              </a:rPr>
              <a:t>Currency Converter  live rate lookup for a foreign bill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641848"/>
            <a:ext cx="10881360" cy="603504"/>
          </a:xfrm>
          <a:prstGeom prst="rect">
            <a:avLst/>
          </a:prstGeom>
          <a:solidFill>
            <a:srgbClr val="0E8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74243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onsola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76072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Call or email a biller, share upcoming bills — implicit intents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660"/>
                </a:solidFill>
                <a:latin typeface="Calibri"/>
              </a:rPr>
              <a:t>Every step above is real, on-device functionality — not a mockup.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8F5E"/>
                </a:solidFill>
                <a:latin typeface="Consolas"/>
              </a:rPr>
              <a:t>DATABASE, API &amp; SENSOR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231C"/>
                </a:solidFill>
                <a:latin typeface="Calibri"/>
              </a:rPr>
              <a:t>Three related Room tables, full CRUD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E8F5E"/>
                </a:solidFill>
                <a:latin typeface="Calibri"/>
              </a:rP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B6660"/>
                </a:solidFill>
              </a:rPr>
              <a:t>  id · username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B6660"/>
                </a:solidFill>
              </a:rPr>
              <a:t>  passwordHash · salt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E8F5E"/>
                </a:solidFill>
                <a:latin typeface="Calibri"/>
              </a:rPr>
              <a:t>bills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2316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B6660"/>
                </a:solidFill>
              </a:rPr>
              <a:t>  id · userId (FK)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B6660"/>
                </a:solidFill>
              </a:rPr>
              <a:t>  name · amount · currency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B6660"/>
                </a:solidFill>
              </a:rPr>
              <a:t>  category · recurrence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B6660"/>
                </a:solidFill>
              </a:rPr>
              <a:t>  nextDueDateMillis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73736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192024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E8F5E"/>
                </a:solidFill>
                <a:latin typeface="Calibri"/>
              </a:rPr>
              <a:t>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42316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B6660"/>
                </a:solidFill>
              </a:rPr>
              <a:t>  id · billId (FK)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B6660"/>
                </a:solidFill>
              </a:rPr>
              <a:t>  amountPaid · currency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B6660"/>
                </a:solidFill>
              </a:rPr>
              <a:t>  paidDateMillis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5349240" cy="1280160"/>
          </a:xfrm>
          <a:prstGeom prst="roundRect">
            <a:avLst>
              <a:gd name="adj" fmla="val 6000"/>
            </a:avLst>
          </a:prstGeom>
          <a:solidFill>
            <a:srgbClr val="12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C98A"/>
                </a:solidFill>
                <a:latin typeface="Calibri"/>
              </a:rPr>
              <a:t>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46320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AF3EE"/>
                </a:solidFill>
                <a:latin typeface="Calibri"/>
              </a:rPr>
              <a:t>users → bills → payments, both foreign keys CASCADE on delete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297680"/>
            <a:ext cx="5349240" cy="1280160"/>
          </a:xfrm>
          <a:prstGeom prst="roundRect">
            <a:avLst>
              <a:gd name="adj" fmla="val 6000"/>
            </a:avLst>
          </a:prstGeom>
          <a:solidFill>
            <a:srgbClr val="12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C98A"/>
                </a:solidFill>
                <a:latin typeface="Calibri"/>
              </a:rPr>
              <a:t>CRUD, per DAO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846320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AF3EE"/>
                </a:solidFill>
                <a:latin typeface="Calibri"/>
              </a:rPr>
              <a:t>BillDao · PaymentDao · UserDao — insert, update, delete, query, ordered by due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660"/>
                </a:solidFill>
                <a:latin typeface="Calibri"/>
              </a:rPr>
              <a:t>A payment row is written automatically whenever a bill is marked paid.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8F5E"/>
                </a:solidFill>
                <a:latin typeface="Consolas"/>
              </a:rPr>
              <a:t>DATABASE, API &amp; SENSOR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231C"/>
                </a:solidFill>
                <a:latin typeface="Calibri"/>
              </a:rPr>
              <a:t>One free API, one hardware sensor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578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4231C"/>
                </a:solidFill>
                <a:latin typeface="Calibri"/>
              </a:rPr>
              <a:t>Exchange-rate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E8F5E"/>
                </a:solidFill>
                <a:latin typeface="Consolas"/>
              </a:rPr>
              <a:t>GET open.er-api.com/v6/latest/{base}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6660"/>
                </a:solidFill>
                <a:latin typeface="Calibri"/>
              </a:rPr>
              <a:t>Retrofit + Gson, wrapped in a sealed Result — Success or Error, never an unhandled exception.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2578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4231C"/>
                </a:solidFill>
                <a:latin typeface="Calibri"/>
              </a:rPr>
              <a:t>Accelerometer shake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06040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6660"/>
                </a:solidFill>
                <a:latin typeface="Calibri"/>
              </a:rPr>
              <a:t>Marks the soonest-due bill paid without opening it. A 1.5-second cooldown stops one physical shake from firing twice.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886200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6660"/>
                </a:solidFill>
                <a:latin typeface="Calibri"/>
              </a:rPr>
              <a:t>No accelerometer on the device? The per-row "Mark Paid" button still works — the feature degrades, it never blocks the task.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660"/>
                </a:solidFill>
                <a:latin typeface="Calibri"/>
              </a:rPr>
              <a:t>Coursework constraint: a free public REST API, no custom backend — so auth stays local.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8F5E"/>
                </a:solidFill>
                <a:latin typeface="Consolas"/>
              </a:rPr>
              <a:t>TESTING &amp;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231C"/>
                </a:solidFill>
                <a:latin typeface="Calibri"/>
              </a:rPr>
              <a:t>Verified on a physical device, every 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20440" cy="2926080"/>
          </a:xfrm>
          <a:prstGeom prst="roundRect">
            <a:avLst>
              <a:gd name="adj" fmla="val 6000"/>
            </a:avLst>
          </a:prstGeom>
          <a:solidFill>
            <a:srgbClr val="12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039112"/>
            <a:ext cx="30083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3C98A"/>
                </a:solidFill>
                <a:latin typeface="Calibri"/>
              </a:rPr>
              <a:t>Build → install → screenshot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43200"/>
            <a:ext cx="30083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AF3EE"/>
                </a:solidFill>
                <a:latin typeface="Calibri"/>
              </a:rPr>
              <a:t>Every UI change is pushed over ADB wireless debugging to a real Android phone, then screenshotted and visually checked — not just compiled.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83080"/>
            <a:ext cx="35204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90872" y="2039112"/>
            <a:ext cx="30083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231C"/>
                </a:solidFill>
                <a:latin typeface="Calibri"/>
              </a:rPr>
              <a:t>Input &amp; state 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743200"/>
            <a:ext cx="30083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B6660"/>
                </a:solidFill>
                <a:latin typeface="Calibri"/>
              </a:rPr>
              <a:t>Inline field errors for missing name/amount, invalid-login message, disabled Save/Delete with a spinner while a write is in flight.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783080"/>
            <a:ext cx="35204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85632" y="2039112"/>
            <a:ext cx="30083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231C"/>
                </a:solidFill>
                <a:latin typeface="Calibri"/>
              </a:rPr>
              <a:t>Network &amp; hardware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743200"/>
            <a:ext cx="30083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B6660"/>
                </a:solidFill>
                <a:latin typeface="Calibri"/>
              </a:rPr>
              <a:t>Retrofit failures surface as a Snackbar, not a crash; a missing accelerometer falls back to a manual button.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660"/>
                </a:solidFill>
                <a:latin typeface="Calibri"/>
              </a:rPr>
              <a:t>A missing sensor and a forced network failure are both testable, demonstrable failure paths on this build.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8F5E"/>
                </a:solidFill>
                <a:latin typeface="Consolas"/>
              </a:rP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231C"/>
                </a:solidFill>
                <a:latin typeface="Calibri"/>
              </a:rPr>
              <a:t>Five real problems, found by using the app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>
                    <a:solidFill>
                      <a:srgbClr val="122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122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Fix</a:t>
                      </a:r>
                    </a:p>
                  </a:txBody>
                  <a:tcPr>
                    <a:solidFill>
                      <a:srgbClr val="1223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4231C"/>
                          </a:solidFill>
                        </a:rPr>
                        <a:t>Shake fired more than once per shake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4231C"/>
                          </a:solidFill>
                        </a:rPr>
                        <a:t>Sensor samples cross the threshold repeatedly in one motion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4231C"/>
                          </a:solidFill>
                        </a:rPr>
                        <a:t>1.5s cooldown after every accepted shake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4231C"/>
                          </a:solidFill>
                        </a:rPr>
                        <a:t>Bottom-nav tabs desynced from the screen</a:t>
                      </a:r>
                    </a:p>
                  </a:txBody>
                  <a:tcPr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4231C"/>
                          </a:solidFill>
                        </a:rPr>
                        <a:t>A reused activity instance stayed on the back stack</a:t>
                      </a:r>
                    </a:p>
                  </a:txBody>
                  <a:tcPr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4231C"/>
                          </a:solidFill>
                        </a:rPr>
                        <a:t>Always finish() and start a fresh activity on tab switch</a:t>
                      </a:r>
                    </a:p>
                  </a:txBody>
                  <a:tcPr>
                    <a:solidFill>
                      <a:srgbClr val="F1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4231C"/>
                          </a:solidFill>
                        </a:rPr>
                        <a:t>Bottom-nav labels only showed on the active tab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4231C"/>
                          </a:solidFill>
                        </a:rPr>
                        <a:t>Android auto-hides labels once a nav bar has 4+ 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4231C"/>
                          </a:solidFill>
                        </a:rPr>
                        <a:t>labelVisibilityMode set to "labeled" explicitly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4231C"/>
                          </a:solidFill>
                        </a:rPr>
                        <a:t>Project stopped building on this machine</a:t>
                      </a:r>
                    </a:p>
                  </a:txBody>
                  <a:tcPr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4231C"/>
                          </a:solidFill>
                        </a:rPr>
                        <a:t>Gradle 8.11 does not support the installed JDK 25</a:t>
                      </a:r>
                    </a:p>
                  </a:txBody>
                  <a:tcPr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4231C"/>
                          </a:solidFill>
                        </a:rPr>
                        <a:t>Upgraded the wrapper to Gradle 9.4.1</a:t>
                      </a:r>
                    </a:p>
                  </a:txBody>
                  <a:tcPr>
                    <a:solidFill>
                      <a:srgbClr val="F1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4231C"/>
                          </a:solidFill>
                        </a:rPr>
                        <a:t>git push failed with an out-of-memory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4231C"/>
                          </a:solidFill>
                        </a:rPr>
                        <a:t>A global http.postBuffer set larger than this network needs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4231C"/>
                          </a:solidFill>
                        </a:rPr>
                        <a:t>Override postBuffer per push, without touching global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660"/>
                </a:solidFill>
                <a:latin typeface="Calibri"/>
              </a:rPr>
              <a:t>Every row is a bug that only surfaced from actually using the running app.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C98A"/>
                </a:solidFill>
                <a:latin typeface="Consolas"/>
              </a:rPr>
              <a:t>LESSONS LEARNED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small, honest scope survives contact with a real device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1B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039112"/>
            <a:ext cx="30083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Testing on hardware finds what code review can't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834640"/>
            <a:ext cx="3008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dirty="0">
                <a:solidFill>
                  <a:srgbClr val="A9C2B7"/>
                </a:solidFill>
                <a:latin typeface="Calibri"/>
              </a:rPr>
              <a:t>Every real bug this build shipped  the shake redundancy, the nav desync, the hidden labels  only became visible on the phone screen.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8308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1B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90872" y="2039112"/>
            <a:ext cx="30083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UX principles turn opinions into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834640"/>
            <a:ext cx="30083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A9C2B7"/>
                </a:solidFill>
                <a:latin typeface="Calibri"/>
              </a:rPr>
              <a:t>Cognitive-load and Fitts's-Law reasoning explained why a change helped, instead of just guessing at "nicer".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78308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33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85632" y="2039112"/>
            <a:ext cx="30083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231C"/>
                </a:solidFill>
                <a:latin typeface="Calibri"/>
              </a:rPr>
              <a:t>One problem, solved well, meets the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834640"/>
            <a:ext cx="30083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73226"/>
                </a:solidFill>
                <a:latin typeface="Calibri"/>
              </a:rPr>
              <a:t>Bill Reminder covers every rubric requirement while staying answerable to one real, relatable problem.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9C2B7"/>
                </a:solidFill>
                <a:latin typeface="Calibri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1129</Words>
  <Application>Microsoft Office PowerPoint</Application>
  <PresentationFormat>Widescreen</PresentationFormat>
  <Paragraphs>144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Collins Odhiambo</cp:lastModifiedBy>
  <cp:revision>2</cp:revision>
  <dcterms:created xsi:type="dcterms:W3CDTF">2013-01-27T09:14:16Z</dcterms:created>
  <dcterms:modified xsi:type="dcterms:W3CDTF">2026-09-17T12:06:11Z</dcterms:modified>
  <cp:category/>
</cp:coreProperties>
</file>